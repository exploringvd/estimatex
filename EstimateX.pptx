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7" r:id="rId6"/>
    <p:sldMasterId id="2147483659" r:id="rId7"/>
    <p:sldMasterId id="2147483661" r:id="rId8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7" r:id="rId21"/>
    <p:sldId id="264" r:id="rId17"/>
    <p:sldId id="265" r:id="rId18"/>
    <p:sldId id="266" r:id="rId19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presProps" Target="presProps.xml"/><Relationship Id="rId21" Type="http://schemas.openxmlformats.org/officeDocument/2006/relationships/slide" Target="slides/slide12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Random Forest came out on top for both datasets, cutting average error by roughly two-thirds compared to our plain Linear Regression baseline on COCOMO-NASA. It wasn't a clean sweep on every single metric, Linear Regression edged it out slightly on raw error on Desharnais, but Random Forest got about four times as many predictions within 25% of the actual value, so it's the more reliable choice overall. And because it's a tree-based model, we can see exactly what drove each prediction: project size is the biggest factor in both datasets, which matches what you'd expect intuitively, bigger projects cost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E1BB60-C67E-45F7-B3C5-F2FD22A056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2180CE0-1A9B-44BA-AFD5-2A575ACE177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663D0DF-1C64-4913-9A73-F26027D3892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8EF9341-2DBF-4FB4-AF13-318F37E743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F92A2BF-180F-4A3D-9C44-DB3E6F8773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39F4811-DAEE-4094-B3D6-50298B870BC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6D0CAAD-FA7B-45E8-8933-01213B28D9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94CA9CC-A93C-4F3F-9660-20D3BCA891A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3024465-66C4-4794-B773-09233EB2C39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IN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8.xml"/><Relationship Id="rId3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692280"/>
            <a:ext cx="8227080" cy="30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101F908-82EC-4C3C-90CD-5B8624DEC6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707400"/>
            <a:ext cx="8227080" cy="27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F5A3C3-B79C-4D15-AF32-CD56224995E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692280"/>
            <a:ext cx="8227080" cy="305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1900811-EE6B-43A8-9BC1-9F95346EC7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  <p:sldLayoutId id="2147483656" r:id="rId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A142127-BC2B-4A85-8BB8-1D7F50E5DC5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 vert="eaVert">
            <a:no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vert="eaVert">
            <a:normAutofit fontScale="7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6CF8EB-2DD2-4998-88A3-FAF8F77C3A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509400"/>
            <a:ext cx="8227080" cy="67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buNone/>
              <a:def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IN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8A6E687-1528-4526-8C48-F3F75A24AE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IN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buNone/>
              <a:def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80000" y="1980000"/>
            <a:ext cx="8817840" cy="233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rmAutofit fontScale="85000" lnSpcReduction="9999"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EstimateX —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Times New Roman"/>
              </a:rPr>
              <a:t>Predicting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 Project Time &amp;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Cost Using Machine Learning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 </a:t>
            </a:r>
            <a:br>
              <a:rPr sz="4400"/>
            </a:br>
            <a:br>
              <a:rPr sz="1800"/>
            </a:br>
            <a:r>
              <a:rPr lang="en-IN" sz="18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Garamond"/>
              </a:rPr>
              <a:t>Mini project BCS-554 / 5</a:t>
            </a:r>
            <a:r>
              <a:rPr lang="en-IN" sz="12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Garamond"/>
              </a:rPr>
              <a:t>th</a:t>
            </a:r>
            <a:r>
              <a:rPr lang="en-IN" sz="1800" b="0" u="sng" strike="noStrike">
                <a:solidFill>
                  <a:schemeClr val="dk1"/>
                </a:solidFill>
                <a:effectLst/>
                <a:uFillTx/>
                <a:latin typeface="Times New Roman"/>
                <a:ea typeface="Garamond"/>
              </a:rPr>
              <a:t> Sem</a:t>
            </a:r>
            <a:br>
              <a:rPr sz="1800"/>
            </a:b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360000" y="4786200"/>
            <a:ext cx="4285800" cy="1331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0000" lnSpcReduction="19999"/>
          </a:bodyPr>
          <a:p>
            <a:pPr marL="228600"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Team Members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1. VAISHNAVI DUTT  [</a:t>
            </a: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2400320101217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]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2. VARNIKA SINGH    [</a:t>
            </a: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2400320101234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]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l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3. VANDANA SINGH   [</a:t>
            </a: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2400320101219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]</a:t>
            </a:r>
            <a:endParaRPr lang="en-IN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0" algn="ctr" defTabSz="9144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endParaRPr lang="en-IN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ubtitle 2"/>
          <p:cNvSpPr/>
          <p:nvPr/>
        </p:nvSpPr>
        <p:spPr>
          <a:xfrm>
            <a:off x="5585760" y="4860000"/>
            <a:ext cx="3232080" cy="102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rmAutofit lnSpcReduction="9999"/>
          </a:bodyPr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MENTOR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MS. DIVYA MAHESHWARI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spcBef>
                <a:spcPts val="400"/>
              </a:spcBef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   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" name="Picture 4" descr="images.jpg"/>
          <p:cNvPicPr/>
          <p:nvPr/>
        </p:nvPicPr>
        <p:blipFill>
          <a:blip r:embed="rId1"/>
          <a:stretch/>
        </p:blipFill>
        <p:spPr>
          <a:xfrm>
            <a:off x="7878600" y="19872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Picture 63"/>
          <p:cNvPicPr/>
          <p:nvPr/>
        </p:nvPicPr>
        <p:blipFill>
          <a:blip r:embed="rId2"/>
          <a:stretch/>
        </p:blipFill>
        <p:spPr>
          <a:xfrm>
            <a:off x="0" y="137160"/>
            <a:ext cx="1258920" cy="1661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0" y="42120"/>
            <a:ext cx="9141840" cy="1395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 ABSTRACT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Picture 5" descr="images.jpg"/>
          <p:cNvPicPr/>
          <p:nvPr/>
        </p:nvPicPr>
        <p:blipFill>
          <a:blip r:embed="rId1"/>
          <a:stretch/>
        </p:blipFill>
        <p:spPr>
          <a:xfrm>
            <a:off x="7848000" y="0"/>
            <a:ext cx="1293840" cy="1293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3" name="Title 1"/>
          <p:cNvSpPr/>
          <p:nvPr/>
        </p:nvSpPr>
        <p:spPr>
          <a:xfrm>
            <a:off x="327960" y="1611360"/>
            <a:ext cx="7769880" cy="342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endParaRPr lang="en-US" sz="1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Title 1"/>
          <p:cNvSpPr/>
          <p:nvPr/>
        </p:nvSpPr>
        <p:spPr>
          <a:xfrm>
            <a:off x="429120" y="1611360"/>
            <a:ext cx="8389800" cy="43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The Problem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Project time and cost are usually just guessed based on someone's experience, which is unreliable and different every time.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Our Solution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We use machine learning to predict a project's time and cost based on real past project data, instead of guesswork.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Multiple Models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We test a few different ML methods and pick whichever gives the most accurate predictions.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Works Across Domains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The tool works for different types of projects - website, mobile app, enterprise software , not just one.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Explainable Results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It also shows which factors (like team size or complexity) affected the prediction, so it's not just a random number.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Impact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Helps teams plan budgets and timelines more reliably before starting a project.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Picture 68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43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0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Arial Unicode MS"/>
              </a:rPr>
              <a:t>OBJECTIVE  </a:t>
            </a:r>
            <a:endParaRPr lang="en-IN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" name="Picture 2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itle 1"/>
          <p:cNvSpPr/>
          <p:nvPr/>
        </p:nvSpPr>
        <p:spPr>
          <a:xfrm>
            <a:off x="360000" y="1620000"/>
            <a:ext cx="8458560" cy="48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Build the Prediction Model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Create a machine learning model that predicts a project's development time and cost from its details (team size, complexity, type, etc.).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Compare Multiple Algorithms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Train a few different ML models and find out which one gives the most accurate predictions.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Measure Accuracy Properly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Test how good the predictions are using proper error checks, not just guesswork.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Make Results Explainable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Show which factors influenced the prediction the most, so it's easy to understand why.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Support Multiple Domains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Make sure it works for different types of projects, not just one specific kind.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Deliver a Usable Tool</a:t>
            </a: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Package everything into a simple website where anyone can enter project details and get an instant estimate.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Picture 72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61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Scope of the </a:t>
            </a:r>
            <a:br>
              <a:rPr sz="4400"/>
            </a:b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Problem Statement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1" name="Picture 2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" name="Title 1"/>
          <p:cNvSpPr/>
          <p:nvPr/>
        </p:nvSpPr>
        <p:spPr>
          <a:xfrm>
            <a:off x="525960" y="1900440"/>
            <a:ext cx="7769880" cy="40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rmAutofit/>
          </a:bodyPr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76"/>
          <p:cNvSpPr/>
          <p:nvPr/>
        </p:nvSpPr>
        <p:spPr>
          <a:xfrm>
            <a:off x="181080" y="1800000"/>
            <a:ext cx="8637840" cy="47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Who Can Use It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Any team or company that wants a rough time and cost estimate before starting a project - not limited to software companies alone.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Works Across Project Types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Covers different kinds of projects - websites, mobile apps, enterprise software, embedded systems - the user just tells the tool what type of project it is 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Helps With Planning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Useful for project managers, students, and startups to check their own plans against a data-based estimate before committing time and money.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Improves Over Time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Can be retrained with more project data later, making predictions more accurate as it's used more.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Limits of This Project</a:t>
            </a: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Times New Roman"/>
                <a:ea typeface="DejaVu Sans"/>
              </a:rPr>
              <a:t>: Focused on early-stage estimation based on project details - it does not track a project's actual progress once development has started.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ectangle 77"/>
          <p:cNvSpPr/>
          <p:nvPr/>
        </p:nvSpPr>
        <p:spPr>
          <a:xfrm>
            <a:off x="380160" y="2490840"/>
            <a:ext cx="235440" cy="176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</a:t>
            </a:r>
            <a:endParaRPr lang="en-IN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IN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Picture 78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61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RELATED WORK 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7" name="Picture 3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" name="Rectangle 81"/>
          <p:cNvSpPr/>
          <p:nvPr/>
        </p:nvSpPr>
        <p:spPr>
          <a:xfrm>
            <a:off x="180000" y="1675080"/>
            <a:ext cx="8638560" cy="440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IIETA study (2023)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Compared several ML models on the same data, found Random Forest gave the most accurate predictions.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JARDCS study (2019)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Used machine learning to predict software project effort and cost, found it more accurate than older formula-based methods.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ResearchGate survey (2007)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Reviewed different ML techniques for this kind of prediction, found that clean data matters more than the exact method used.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SEER-AI (Galorath)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An existing enterprise-grade estimation tool, but expensive and built for large-scale defense/aerospace projects, not accessible to small teams.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Marketing-style AI calculators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(devtimate, idealink, etc.): Existing web tools that give a rough cost estimate, but are mostly lead-generation forms without real trained models or transparency.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Gap We're Addressing: No easily accessible, transparent, and explainable tool exists that works across multiple project domains - our project fills that gap.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9" name="Picture 82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0" y="0"/>
            <a:ext cx="9141840" cy="143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</a:rPr>
              <a:t>APPLICATIONS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Picture 3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Rectangle 85"/>
          <p:cNvSpPr/>
          <p:nvPr/>
        </p:nvSpPr>
        <p:spPr>
          <a:xfrm>
            <a:off x="305280" y="1494000"/>
            <a:ext cx="8097840" cy="36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Software &amp; IT Companies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Estimate project timelines and budgets before taking on client work or starting internal projects.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Startups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Get a quick, realistic budget/timeline check before pitching to investors or committing limited resources.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Project Managers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Cross-check their own manual estimates against a data-backed prediction before finalizing a plan.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Freelancers &amp; Agencies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Give clients faster, more consistent quotes instead of relying purely on gut-feel pricing.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60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Academic &amp; Training Use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Help students and new project managers understand what factors actually drive project cost and time.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Picture 86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0" y="25560"/>
            <a:ext cx="9141840" cy="146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anchorCtr="1">
            <a:no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libri"/>
              </a:rPr>
              <a:t>LIMITATIONS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3" descr="images.jpg"/>
          <p:cNvPicPr/>
          <p:nvPr/>
        </p:nvPicPr>
        <p:blipFill>
          <a:blip r:embed="rId1"/>
          <a:stretch/>
        </p:blipFill>
        <p:spPr>
          <a:xfrm>
            <a:off x="7877520" y="2556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9"/>
          <p:cNvSpPr/>
          <p:nvPr/>
        </p:nvSpPr>
        <p:spPr>
          <a:xfrm>
            <a:off x="378000" y="1673280"/>
            <a:ext cx="8260920" cy="31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Limited Training Data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Public datasets are small, so accuracy can be improved later by collecting more real project data.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Software-Focused Data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Current data is mostly software-project-based - can be expanded with more non-software domain data over time.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No Real-Time Tracking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The tool only predicts before a project starts - could be upgraded later to track and update estimates as the project actually progresses.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6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Depends on Data Quality</a:t>
            </a:r>
            <a:r>
              <a:rPr lang="en-IN" sz="16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: If the input data is incomplete or inaccurate, the prediction quality drops too - same as any data-driven system, and can be improved with better data validation later.</a:t>
            </a:r>
            <a:endParaRPr lang="en-IN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Picture 90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itle 1"/>
          <p:cNvSpPr/>
          <p:nvPr/>
        </p:nvSpPr>
        <p:spPr>
          <a:xfrm>
            <a:off x="12960" y="-59040"/>
            <a:ext cx="9141840" cy="16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algn="ctr" defTabSz="914400">
              <a:lnSpc>
                <a:spcPct val="100000"/>
              </a:lnSpc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CONCLUSION  &amp;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 FUTURE SCOPE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Picture 1" descr="images.jpg"/>
          <p:cNvPicPr/>
          <p:nvPr/>
        </p:nvPicPr>
        <p:blipFill>
          <a:blip r:embed="rId1"/>
          <a:stretch/>
        </p:blipFill>
        <p:spPr>
          <a:xfrm>
            <a:off x="787860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Rectangle 93"/>
          <p:cNvSpPr/>
          <p:nvPr/>
        </p:nvSpPr>
        <p:spPr>
          <a:xfrm>
            <a:off x="180000" y="1800000"/>
            <a:ext cx="8563680" cy="477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Conclusion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Random Forest was the best-performing model on both datasets, cutting average error by about 68% versus the Linear Regression baseline on COCOMO-NASA (MAE 219.8 vs. 692.2).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Tested and compared four algorithms, Linear Regression, Random Forest, XGBoost, and SVR, with Random Forest winning on both COCOMO-NASA and Desharnais once accuracy and consistency were weighed together.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Works across two independent domains, NASA-style embedded systems and business software projects, through one deployed Flask web app with built-in explainability.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Future Scope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Add more real-world data to improve accuracy.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Support real-time tracking as projects progress.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Extend the tool to cover more non-software domains.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Picture 94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itle 4"/>
          <p:cNvSpPr/>
          <p:nvPr/>
        </p:nvSpPr>
        <p:spPr>
          <a:xfrm>
            <a:off x="12960" y="-59040"/>
            <a:ext cx="9141840" cy="14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Calibri"/>
              </a:rPr>
              <a:t>ANNEXURE 10 B</a:t>
            </a:r>
            <a:endParaRPr lang="en-IN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Picture 6" descr="images.jpg"/>
          <p:cNvPicPr/>
          <p:nvPr/>
        </p:nvPicPr>
        <p:blipFill>
          <a:blip r:embed="rId1"/>
          <a:stretch/>
        </p:blipFill>
        <p:spPr>
          <a:xfrm>
            <a:off x="787860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Rectangle 97"/>
          <p:cNvSpPr/>
          <p:nvPr/>
        </p:nvSpPr>
        <p:spPr>
          <a:xfrm>
            <a:off x="180000" y="1832040"/>
            <a:ext cx="8638560" cy="47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Picture 98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"/>
          <p:cNvPicPr/>
          <p:nvPr/>
        </p:nvPicPr>
        <p:blipFill>
          <a:blip r:embed="rId3"/>
          <a:stretch/>
        </p:blipFill>
        <p:spPr>
          <a:xfrm>
            <a:off x="2799720" y="1409040"/>
            <a:ext cx="3320280" cy="4890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Title 3"/>
          <p:cNvSpPr/>
          <p:nvPr/>
        </p:nvSpPr>
        <p:spPr>
          <a:xfrm>
            <a:off x="12960" y="-59040"/>
            <a:ext cx="9141840" cy="14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REFERENCES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8" name="Picture 10" descr="images.jpg"/>
          <p:cNvPicPr/>
          <p:nvPr/>
        </p:nvPicPr>
        <p:blipFill>
          <a:blip r:embed="rId1"/>
          <a:stretch/>
        </p:blipFill>
        <p:spPr>
          <a:xfrm>
            <a:off x="789048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Rectangle 101"/>
          <p:cNvSpPr/>
          <p:nvPr/>
        </p:nvSpPr>
        <p:spPr>
          <a:xfrm>
            <a:off x="180000" y="1620000"/>
            <a:ext cx="8563680" cy="47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Research Papers: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Analysis of Software Effort Estimation by Machine Learning Techniques : IIETA, 2023.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Predicting Effort, Duration and Cost in Software Development Using MLT : JARDCS, 2019.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Software Effort Estimation Using Machine Learning Methods : ResearchGate, 2007.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Official Documentation: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scikit-learn Docs : used for building and training the ML models.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XGBoost Docs : used for the gradient boosting model.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Flask/Streamlit Docs : used for building the web application.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14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Online Resources: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OpenSymbol"/>
              <a:buAutoNum type="arabicPlain"/>
            </a:pPr>
            <a:r>
              <a:rPr lang="en-IN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 Kaggle &amp; GitHub Repositories : for public effort estimation datasets and open-source ML project examples.</a:t>
            </a:r>
            <a:endParaRPr lang="en-IN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Picture 102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"/>
          <p:cNvSpPr/>
          <p:nvPr/>
        </p:nvSpPr>
        <p:spPr>
          <a:xfrm>
            <a:off x="0" y="0"/>
            <a:ext cx="9141840" cy="14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2" name="Picture 7" descr="images.jpg"/>
          <p:cNvPicPr/>
          <p:nvPr/>
        </p:nvPicPr>
        <p:blipFill>
          <a:blip r:embed="rId1"/>
          <a:stretch/>
        </p:blipFill>
        <p:spPr>
          <a:xfrm>
            <a:off x="787752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3" name="Rectangle 105"/>
          <p:cNvSpPr/>
          <p:nvPr/>
        </p:nvSpPr>
        <p:spPr>
          <a:xfrm>
            <a:off x="0" y="2700000"/>
            <a:ext cx="9143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spAutoFit/>
          </a:bodyPr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IN" sz="7200" b="1" u="none" strike="noStrike">
                <a:solidFill>
                  <a:srgbClr val="000000"/>
                </a:solidFill>
                <a:effectLst/>
                <a:uFillTx/>
                <a:latin typeface="Cambria"/>
                <a:ea typeface="DejaVu Sans"/>
              </a:rPr>
              <a:t>THANK YOU </a:t>
            </a:r>
            <a:endParaRPr lang="en-IN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106"/>
          <p:cNvPicPr/>
          <p:nvPr/>
        </p:nvPicPr>
        <p:blipFill>
          <a:blip r:embed="rId2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8" name="Title 1"/>
          <p:cNvSpPr/>
          <p:nvPr/>
        </p:nvSpPr>
        <p:spPr>
          <a:xfrm>
            <a:off x="12960" y="-59040"/>
            <a:ext cx="9141840" cy="167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normAutofit/>
          </a:bodyPr>
          <a:p>
            <a:pPr algn="ctr" defTabSz="914400">
              <a:lnSpc>
                <a:spcPct val="100000"/>
              </a:lnSpc>
            </a:pPr>
            <a:r>
              <a:rPr lang="en-US" sz="4400" b="1" u="none" strike="noStrike">
                <a:solidFill>
                  <a:schemeClr val="dk1"/>
                </a:solidFill>
                <a:effectLst/>
                <a:uFillTx/>
                <a:latin typeface="Cambria"/>
                <a:ea typeface="DejaVu Sans"/>
              </a:rPr>
              <a:t>RESULTS</a:t>
            </a:r>
            <a:endParaRPr lang="en-IN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Picture 1" descr="images.jpg"/>
          <p:cNvPicPr/>
          <p:nvPr/>
        </p:nvPicPr>
        <p:blipFill>
          <a:blip r:embed="rId2"/>
          <a:stretch/>
        </p:blipFill>
        <p:spPr>
          <a:xfrm>
            <a:off x="7878600" y="0"/>
            <a:ext cx="1264320" cy="126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" name="Rectangle 93"/>
          <p:cNvSpPr/>
          <p:nvPr/>
        </p:nvSpPr>
        <p:spPr>
          <a:xfrm>
            <a:off x="180000" y="1650000"/>
            <a:ext cx="4100000" cy="51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Winning Model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Random Forest — best combined MAE + PRED(25) on both datasets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COCOMO-NASA: MAE 219.8, PRED(25) 42.1% (full metrics in Table III)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Desharnais: MAE 2434.1, PRED(25) 25.0% (full metrics in Table III)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1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What Drove the Estimate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COCOMO-NASA: project size and runtime constraint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IN" sz="18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Desharnais: adjusted function points</a:t>
            </a:r>
            <a:endParaRPr lang="en-IN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Picture 94"/>
          <p:cNvPicPr/>
          <p:nvPr/>
        </p:nvPicPr>
        <p:blipFill>
          <a:blip r:embed="rId3"/>
          <a:stretch/>
        </p:blipFill>
        <p:spPr>
          <a:xfrm>
            <a:off x="0" y="0"/>
            <a:ext cx="1078920" cy="1438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2" name="Picture 91" descr="feature_importance_cocomo_r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0000" y="1750000"/>
            <a:ext cx="4250000" cy="33185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1070</TotalTime>
  <Application>LibreOffice/26.2.1.2$MacOSX_AARCH64 LibreOffice_project/8399f6259d8c87f40e7255cdb3c9b958f5e08948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Vaibhav Ranjan</dc:creator>
  <dc:description/>
  <dc:language>en-IN</dc:language>
  <cp:lastModifiedBy/>
  <dcterms:modified xsi:type="dcterms:W3CDTF">2026-09-05T19:56:41Z</dcterms:modified>
  <cp:revision>128</cp:revision>
  <dc:subject/>
  <dc:title>[COLLEGE LOGO ]             TITLE OF THE PROJECT                   Mini Project KCS 554/ 5th Sem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  <property fmtid="{D5CDD505-2E9C-101B-9397-08002B2CF9AE}" pid="3" name="Slides">
    <vt:r8>11</vt:r8>
  </property>
</Properties>
</file>