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11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DD765E9-94FF-4746-A5F8-EC46082BB966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Forest came out on top for both datasets, cutting average error by roughly two-thirds compared to our plain Linear Regression baseline on COCOMO-NASA. It wasn't a clean sweep on every single metric, Linear Regression edged it out slightly on raw error on Desharnais, but Random Forest got about four times as many predictions within 25% of the actual value, so it's the more reliable choice overall. And because it's a tree-based model, we can see exactly what drove each prediction: project size is the biggest factor in both datasets, which matches what you'd expect intuitively, bigger projects cost more.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0CC89B-514F-4B85-BF9A-1FAAB98C56E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Forest came out on top for both datasets, cutting average error by roughly two-thirds compared to our plain Linear Regression baseline on COCOMO-NASA. It wasn't a clean sweep on every single metric, Linear Regression edged it out slightly on raw error on Desharnais, but Random Forest got about four times as many predictions within 25% of the actual value, so it's the more reliable choice overall. And because it's a tree-based model, we can see exactly what drove each prediction: project size is the biggest factor in both datasets, which matches what you'd expect intuitively, bigger projects cost more.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DCFB25-0435-4B16-B257-B0FD52B1FA4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38E634-54B0-4A6F-984C-70CEA58DEE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72FC94-E11C-41B4-AFCA-13C8CD08D9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7406CA1-4B17-41F5-8DCE-D3C4BB82F5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80F32AF-C356-492F-950D-2D0452C52B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C1BBFB-3E61-4A21-A725-3AD7BF2CD9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B5AF642-D7FE-4C24-98AD-7DBEF3B600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122535B-E74B-43B1-8EF2-48AF285CB0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9BAB21-1710-42EB-8A3D-5DC80F6825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A93372-9B88-4E46-8F00-EE889DBC0B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81DCA1-4FC2-438E-B7F5-4FE6123282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E78FD0-88DB-4D71-A254-70144CF620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691920"/>
            <a:ext cx="8226360" cy="30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6C11850-A791-43D9-A3EC-9B1DD3DC27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707040"/>
            <a:ext cx="822636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975740-50F1-4237-A9E1-D085FC75CC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691920"/>
            <a:ext cx="8226360" cy="30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03DD4D-9CB4-4FE2-84E5-65759BD817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BBFB90-44A2-4E9A-9F2F-33CD448486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509400"/>
            <a:ext cx="8226360" cy="67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>
              <a:buNone/>
              <a:def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I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360" cy="452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6914D0-D999-416D-8F21-1F1D06D61D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80000" y="1980000"/>
            <a:ext cx="8817120" cy="233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EstimateX —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Predicting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 Project Time &amp; </a:t>
            </a:r>
            <a:br>
              <a:rPr sz="4400"/>
            </a:b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Cost Using Machine Learning</a:t>
            </a:r>
            <a:br>
              <a:rPr sz="4400"/>
            </a:b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 </a:t>
            </a:r>
            <a:br>
              <a:rPr sz="4400"/>
            </a:br>
            <a:br>
              <a:rPr sz="1800"/>
            </a:br>
            <a:r>
              <a:rPr lang="en-IN" sz="1800" b="0" u="sng" strike="noStrike">
                <a:solidFill>
                  <a:schemeClr val="dk1"/>
                </a:solidFill>
                <a:effectLst/>
                <a:uFillTx/>
                <a:latin typeface="Times New Roman"/>
                <a:ea typeface="Garamond"/>
              </a:rPr>
              <a:t>Mini project BCS-554 / 5</a:t>
            </a:r>
            <a:r>
              <a:rPr lang="en-IN" sz="1200" b="0" u="sng" strike="noStrike">
                <a:solidFill>
                  <a:schemeClr val="dk1"/>
                </a:solidFill>
                <a:effectLst/>
                <a:uFillTx/>
                <a:latin typeface="Times New Roman"/>
                <a:ea typeface="Garamond"/>
              </a:rPr>
              <a:t>th</a:t>
            </a:r>
            <a:r>
              <a:rPr lang="en-IN" sz="1800" b="0" u="sng" strike="noStrike">
                <a:solidFill>
                  <a:schemeClr val="dk1"/>
                </a:solidFill>
                <a:effectLst/>
                <a:uFillTx/>
                <a:latin typeface="Times New Roman"/>
                <a:ea typeface="Garamond"/>
              </a:rPr>
              <a:t> Sem</a:t>
            </a:r>
            <a:br>
              <a:rPr sz="1800"/>
            </a:b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360000" y="4786200"/>
            <a:ext cx="4285080" cy="133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p>
            <a:pPr marL="228600"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Team Members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1. VAISHNAVI DUTT  [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2400320101217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]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2. VARNIKA SINGH    [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2400320101234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]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l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3. VANDANA SINGH   [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2400320101219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]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 algn="ctr" defTabSz="9144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ubtitle 2"/>
          <p:cNvSpPr/>
          <p:nvPr/>
        </p:nvSpPr>
        <p:spPr>
          <a:xfrm>
            <a:off x="5585760" y="4860000"/>
            <a:ext cx="3231360" cy="10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rmAutofit lnSpcReduction="9999"/>
          </a:bodyPr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MENTOR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 MS. DIVYA MAHESHWARI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   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4" descr="images.jpg"/>
          <p:cNvPicPr/>
          <p:nvPr/>
        </p:nvPicPr>
        <p:blipFill>
          <a:blip r:embed="rId1"/>
          <a:stretch/>
        </p:blipFill>
        <p:spPr>
          <a:xfrm>
            <a:off x="7878600" y="19872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63"/>
          <p:cNvPicPr/>
          <p:nvPr/>
        </p:nvPicPr>
        <p:blipFill>
          <a:blip r:embed="rId2"/>
          <a:stretch/>
        </p:blipFill>
        <p:spPr>
          <a:xfrm>
            <a:off x="0" y="137160"/>
            <a:ext cx="1258200" cy="166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42120"/>
            <a:ext cx="9141120" cy="139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 ABSTRACT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5" descr="images.jpg"/>
          <p:cNvPicPr/>
          <p:nvPr/>
        </p:nvPicPr>
        <p:blipFill>
          <a:blip r:embed="rId1"/>
          <a:stretch/>
        </p:blipFill>
        <p:spPr>
          <a:xfrm>
            <a:off x="7848000" y="0"/>
            <a:ext cx="1293120" cy="129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itle 1"/>
          <p:cNvSpPr/>
          <p:nvPr/>
        </p:nvSpPr>
        <p:spPr>
          <a:xfrm>
            <a:off x="327960" y="1611360"/>
            <a:ext cx="7769160" cy="342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Title 1"/>
          <p:cNvSpPr/>
          <p:nvPr/>
        </p:nvSpPr>
        <p:spPr>
          <a:xfrm>
            <a:off x="429120" y="1611360"/>
            <a:ext cx="8389080" cy="43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 lnSpcReduction="9999"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The Problem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Project time and cost are usually guessed from someone’s experience or fixed formulas like COCOMO, which break when the team, scope or domain changes.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Our Solution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EstimateX uses machine learning to predict a project’s effort and cost from real historical project data instead of guesswork.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Data Used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Three public software datasets (COCOMO-NASA, Desharnais, China) merged into 669 projects, plus a separate construction dataset (UCI Residential Building, 372 projects).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Multiple Models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We compared Linear Regression, Random Forest, XGBoost and SVR in each domain. Random Forest was selected for both.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Explainable &amp; Honest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Each estimate shows which factors (like project size or complexity) drove it, and warns the user when the input falls outside what the training data covers.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Impact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Helps teams plan budgets and timelines more reliably before starting a project, with region-wise cost for software (6 markets).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68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1120" cy="143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Arial Unicode MS"/>
              </a:rPr>
              <a:t>OBJECTIVE  </a:t>
            </a:r>
            <a:endParaRPr lang="en-IN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2" descr="images.jpg"/>
          <p:cNvPicPr/>
          <p:nvPr/>
        </p:nvPicPr>
        <p:blipFill>
          <a:blip r:embed="rId1"/>
          <a:stretch/>
        </p:blipFill>
        <p:spPr>
          <a:xfrm>
            <a:off x="787752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itle 1"/>
          <p:cNvSpPr/>
          <p:nvPr/>
        </p:nvSpPr>
        <p:spPr>
          <a:xfrm>
            <a:off x="360000" y="1620000"/>
            <a:ext cx="8457840" cy="48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Build the Prediction Model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Create an ML model that predicts a project’s effort (time) and cost from details known before it starts, like size and complexity.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Compare Multiple Algorithms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Train Linear Regression, Random Forest, XGBoost and SVR, and select the best one for each domain.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Measure Accuracy Properly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Evaluate every model using MAE, RMSE, MMRE and PRED(25), with cross-validation and the same train/test split for a fair comparison.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Make Results Explainable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Show which factors drove each prediction, and warn the user when the input falls outside what the training data covers.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Support Multiple Domains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Build separate models for Software (effort + cost) and Construction (cost), since the two kinds of projects behave very differently.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Deliver a Usable Tool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Package everything into a simple Flask web app where anyone can enter project details and get an instant estimate, with region-wise cost for software.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72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1120" cy="161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Scope of the </a:t>
            </a:r>
            <a:br>
              <a:rPr sz="4400"/>
            </a:b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Problem Statement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Picture 2" descr="images.jpg"/>
          <p:cNvPicPr/>
          <p:nvPr/>
        </p:nvPicPr>
        <p:blipFill>
          <a:blip r:embed="rId1"/>
          <a:stretch/>
        </p:blipFill>
        <p:spPr>
          <a:xfrm>
            <a:off x="787752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"/>
          <p:cNvSpPr/>
          <p:nvPr/>
        </p:nvSpPr>
        <p:spPr>
          <a:xfrm>
            <a:off x="525960" y="1900440"/>
            <a:ext cx="7769160" cy="40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rm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76"/>
          <p:cNvSpPr/>
          <p:nvPr/>
        </p:nvSpPr>
        <p:spPr>
          <a:xfrm>
            <a:off x="181080" y="1800000"/>
            <a:ext cx="8637120" cy="39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Who Can Use It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Any team or company that wants a rough time and cost estimate before starting a project, not limited to software companies alone.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Works Across Project Types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Covers Software and Residential Construction, each with its own model. The user just picks the domain and enters details.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Helps With Planning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Useful for project managers, students and startups to check their own plans against a data-based estimate before committing time and money.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Improves With More Data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The models can be retrained as more project data becomes available, making predictions more accurate and covering more kinds of projects.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Limits of This Project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: Covers early-stage estimation only, not progress tracking. Construction predicts cost only, as its dataset has no actual-duration data.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77"/>
          <p:cNvSpPr/>
          <p:nvPr/>
        </p:nvSpPr>
        <p:spPr>
          <a:xfrm>
            <a:off x="380160" y="2490840"/>
            <a:ext cx="234720" cy="17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 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78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1120" cy="161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RELATED WORK 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3" descr="images.jpg"/>
          <p:cNvPicPr/>
          <p:nvPr/>
        </p:nvPicPr>
        <p:blipFill>
          <a:blip r:embed="rId1"/>
          <a:stretch/>
        </p:blipFill>
        <p:spPr>
          <a:xfrm>
            <a:off x="787752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Rectangle 81"/>
          <p:cNvSpPr/>
          <p:nvPr/>
        </p:nvSpPr>
        <p:spPr>
          <a:xfrm>
            <a:off x="181800" y="1477440"/>
            <a:ext cx="8637840" cy="518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Shamim et al. (2025)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Reviewed 39 studies across construction, real estate, healthcare and manufacturing. ML reached about 75–80% accuracy, and XGBoost worked well for construction cost.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Mansoor et al. (2024)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Tested feature-selection methods on COCOMO-NASA. PCA worked best, and choosing the right features sometimes helped more than changing the algorithm.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Meharunnisa et al. (2023)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Compared Random Forest, Gradient Boosting and SVR for software effort. Random Forest gave the most consistent results.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JARDCS study (2019)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Compared ML regression with COCOMO on the same data for effort, duration and cost. ML was more accurate.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Oliveira et al. (2007)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Tested neural networks, regression trees and SVR on NASA and other datasets. No single model won everywhere, but all ML methods beat COCOMO.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Existing Tools: SEER-AI (Galorath)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is powerful but expensive and built for large defense/aerospace projects. Online cost calculators are mostly lead-generation forms with no trained model behind them.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Gap We’re Addressing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Most studies focus on a single domain, and almost none explain their predictions. No accessible tool covers multiple domains with transparent, explainable estimates. EstimateX fills that gap.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Picture 82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1120" cy="161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IMPLEMENTATION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8" descr="images.jpg"/>
          <p:cNvPicPr/>
          <p:nvPr/>
        </p:nvPicPr>
        <p:blipFill>
          <a:blip r:embed="rId1"/>
          <a:stretch/>
        </p:blipFill>
        <p:spPr>
          <a:xfrm>
            <a:off x="787752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Rectangle 1"/>
          <p:cNvSpPr/>
          <p:nvPr/>
        </p:nvSpPr>
        <p:spPr>
          <a:xfrm>
            <a:off x="180000" y="1675080"/>
            <a:ext cx="8637840" cy="523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9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/>
          <p:cNvPicPr/>
          <p:nvPr/>
        </p:nvPicPr>
        <p:blipFill>
          <a:blip r:embed="rId3"/>
          <a:stretch/>
        </p:blipFill>
        <p:spPr>
          <a:xfrm>
            <a:off x="1213200" y="1065960"/>
            <a:ext cx="3106440" cy="584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/>
          <p:cNvPicPr/>
          <p:nvPr/>
        </p:nvPicPr>
        <p:blipFill>
          <a:blip r:embed="rId4"/>
          <a:stretch/>
        </p:blipFill>
        <p:spPr>
          <a:xfrm>
            <a:off x="4680000" y="1080000"/>
            <a:ext cx="3153600" cy="582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1120" cy="1437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</a:rPr>
              <a:t>APPLICATIONS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3" descr="images.jpg"/>
          <p:cNvPicPr/>
          <p:nvPr/>
        </p:nvPicPr>
        <p:blipFill>
          <a:blip r:embed="rId1"/>
          <a:stretch/>
        </p:blipFill>
        <p:spPr>
          <a:xfrm>
            <a:off x="787752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85"/>
          <p:cNvSpPr/>
          <p:nvPr/>
        </p:nvSpPr>
        <p:spPr>
          <a:xfrm>
            <a:off x="305280" y="1494000"/>
            <a:ext cx="8097120" cy="51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Software &amp; IT Companies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Estimate project timelines and budgets before taking on client work or starting internal projects.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Construction &amp; Real Estate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Builders and contractors can get an early cost estimate for residential projects from floor area, location and the preliminary estimate.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Startups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Get a quick, realistic budget and timeline check before pitching to investors or committing limited resources.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Project Managers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Cross-check their own manual estimates against a data-backed prediction, along with an explanation of what drove it, before finalizing a plan.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Freelancers &amp; Agencies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Give clients faster, more consistent quotes instead of relying purely on gut-feel pricing.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Outsourcing Decisions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Compare the estimated cost of the same software project across 6 regions (US, UK, Germany, Poland, India, Vietnam) before choosing where to build it.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Academic &amp; Training Use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Help students and new project managers understand what factors actually drive project cost and time.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86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0" y="25560"/>
            <a:ext cx="9141120" cy="14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libri"/>
              </a:rPr>
              <a:t>LIMITATIONS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3" descr="images.jpg"/>
          <p:cNvPicPr/>
          <p:nvPr/>
        </p:nvPicPr>
        <p:blipFill>
          <a:blip r:embed="rId1"/>
          <a:stretch/>
        </p:blipFill>
        <p:spPr>
          <a:xfrm>
            <a:off x="7877520" y="2556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89"/>
          <p:cNvSpPr/>
          <p:nvPr/>
        </p:nvSpPr>
        <p:spPr>
          <a:xfrm>
            <a:off x="378000" y="1673280"/>
            <a:ext cx="8260200" cy="440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Limited &amp; Old Training Data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Only 669 software and 372 construction projects; some NASA data is old and doesn’t reflect today’s agile projects.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Software Accuracy Still Moderate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Software PRED(25) is 20.1%, below the 75% benchmark. Adding China cut error by 51% but lowered PRED(25).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Some Values Are Imputed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Missing complexity and team-experience values are filled in from real data distributions, not measured.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Construction Is Cost-Only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Predicts cost, not time; based on Tehran projects with costs in Iranian Rial.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Fixed Cost Assumptions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Software cost uses static 2026 rates for 6 regions, which need regular updating.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6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No Real-Time Tracking</a:t>
            </a:r>
            <a:r>
              <a:rPr lang="en-IN" sz="16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Predicts only before a project starts; could later update estimates as work progresses.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90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/>
          <p:nvPr/>
        </p:nvSpPr>
        <p:spPr>
          <a:xfrm>
            <a:off x="12960" y="-59040"/>
            <a:ext cx="9141120" cy="16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rmAutofit/>
          </a:bodyPr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CONCLUSION  &amp;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 FUTURE SCOPE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1" descr="images.jpg"/>
          <p:cNvPicPr/>
          <p:nvPr/>
        </p:nvPicPr>
        <p:blipFill>
          <a:blip r:embed="rId1"/>
          <a:stretch/>
        </p:blipFill>
        <p:spPr>
          <a:xfrm>
            <a:off x="787860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Rectangle 93"/>
          <p:cNvSpPr/>
          <p:nvPr/>
        </p:nvSpPr>
        <p:spPr>
          <a:xfrm>
            <a:off x="180000" y="1800000"/>
            <a:ext cx="8562960" cy="48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Conclusion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Random Forest gave the best results in both Software and Construction domains.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Merged 3 software datasets into 669 projects, with an average error (MAE) of 130.8.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Construction model reached 82.7% PRED(25), above the 75% reliability benchmark.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Every estimate shows its key factors and warns when the input is out of range.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Future Scope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Deploy the web app publicly so anyone can use it online.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Add more project data, especially small projects, to improve accuracy.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Use SHAP/LIME to give more precise explanations for each prediction.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Add real-time tracking to update estimates as a project progresses.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94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/>
          <p:nvPr/>
        </p:nvSpPr>
        <p:spPr>
          <a:xfrm>
            <a:off x="12960" y="-59040"/>
            <a:ext cx="9141120" cy="16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rmAutofit/>
          </a:bodyPr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RESULTS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1" descr="images.jpg"/>
          <p:cNvPicPr/>
          <p:nvPr/>
        </p:nvPicPr>
        <p:blipFill>
          <a:blip r:embed="rId1"/>
          <a:stretch/>
        </p:blipFill>
        <p:spPr>
          <a:xfrm>
            <a:off x="787860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angle 93"/>
          <p:cNvSpPr/>
          <p:nvPr/>
        </p:nvSpPr>
        <p:spPr>
          <a:xfrm>
            <a:off x="180000" y="1649880"/>
            <a:ext cx="4099320" cy="47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Winning Model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Random Forest performed best in both domains.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Software (669 projects): MAE 130.8, PRED(25) 20.1%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Construction (372 projects): MAE 26.9, PRED(25) 82.7%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Chosen over SVR and LR because it is explainable.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Drove the Estimate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Software: project size (KLOC), then complexity.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Construction: preliminary cost estimate (~94%).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94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/>
          <p:cNvPicPr/>
          <p:nvPr/>
        </p:nvPicPr>
        <p:blipFill>
          <a:blip r:embed="rId3"/>
          <a:stretch/>
        </p:blipFill>
        <p:spPr>
          <a:xfrm>
            <a:off x="4569120" y="1278000"/>
            <a:ext cx="4573080" cy="557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2"/>
          <p:cNvSpPr/>
          <p:nvPr/>
        </p:nvSpPr>
        <p:spPr>
          <a:xfrm>
            <a:off x="12960" y="-59040"/>
            <a:ext cx="9141120" cy="167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rmAutofit/>
          </a:bodyPr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RESEARCH PAPER STATUS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Picture 11" descr="images.jpg"/>
          <p:cNvPicPr/>
          <p:nvPr/>
        </p:nvPicPr>
        <p:blipFill>
          <a:blip r:embed="rId1"/>
          <a:stretch/>
        </p:blipFill>
        <p:spPr>
          <a:xfrm>
            <a:off x="787860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2"/>
          <p:cNvSpPr/>
          <p:nvPr/>
        </p:nvSpPr>
        <p:spPr>
          <a:xfrm>
            <a:off x="180000" y="1649880"/>
            <a:ext cx="4099320" cy="47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12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/>
          <p:cNvPicPr/>
          <p:nvPr/>
        </p:nvPicPr>
        <p:blipFill>
          <a:blip r:embed="rId3"/>
          <a:srcRect l="0" t="0" r="0" b="21574"/>
          <a:stretch/>
        </p:blipFill>
        <p:spPr>
          <a:xfrm>
            <a:off x="180000" y="1440000"/>
            <a:ext cx="4140000" cy="54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"/>
          <p:cNvPicPr/>
          <p:nvPr/>
        </p:nvPicPr>
        <p:blipFill>
          <a:blip r:embed="rId4"/>
          <a:stretch/>
        </p:blipFill>
        <p:spPr>
          <a:xfrm>
            <a:off x="4740480" y="1440000"/>
            <a:ext cx="4259520" cy="54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4"/>
          <p:cNvSpPr/>
          <p:nvPr/>
        </p:nvSpPr>
        <p:spPr>
          <a:xfrm>
            <a:off x="12960" y="-59040"/>
            <a:ext cx="9141120" cy="14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rmAutofit/>
          </a:bodyPr>
          <a:p>
            <a:pPr defTabSz="9144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Calibri"/>
              </a:rPr>
              <a:t>ANNEXURE 10 B</a:t>
            </a:r>
            <a:endParaRPr lang="en-IN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6" descr="images.jpg"/>
          <p:cNvPicPr/>
          <p:nvPr/>
        </p:nvPicPr>
        <p:blipFill>
          <a:blip r:embed="rId1"/>
          <a:stretch/>
        </p:blipFill>
        <p:spPr>
          <a:xfrm>
            <a:off x="787860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ectangle 97"/>
          <p:cNvSpPr/>
          <p:nvPr/>
        </p:nvSpPr>
        <p:spPr>
          <a:xfrm>
            <a:off x="180000" y="1832040"/>
            <a:ext cx="8637840" cy="47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Picture 98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"/>
          <p:cNvPicPr/>
          <p:nvPr/>
        </p:nvPicPr>
        <p:blipFill>
          <a:blip r:embed="rId3"/>
          <a:stretch/>
        </p:blipFill>
        <p:spPr>
          <a:xfrm>
            <a:off x="1295280" y="943560"/>
            <a:ext cx="6472440" cy="571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3"/>
          <p:cNvSpPr/>
          <p:nvPr/>
        </p:nvSpPr>
        <p:spPr>
          <a:xfrm>
            <a:off x="12960" y="-59040"/>
            <a:ext cx="9141120" cy="14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rm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Cambria"/>
                <a:ea typeface="DejaVu Sans"/>
              </a:rPr>
              <a:t>REFERENCES</a:t>
            </a:r>
            <a:endParaRPr lang="en-IN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10" descr="images.jpg"/>
          <p:cNvPicPr/>
          <p:nvPr/>
        </p:nvPicPr>
        <p:blipFill>
          <a:blip r:embed="rId1"/>
          <a:stretch/>
        </p:blipFill>
        <p:spPr>
          <a:xfrm>
            <a:off x="789048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Rectangle 101"/>
          <p:cNvSpPr/>
          <p:nvPr/>
        </p:nvSpPr>
        <p:spPr>
          <a:xfrm>
            <a:off x="180000" y="1620000"/>
            <a:ext cx="8562960" cy="48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Research Papers: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Shamim et al., “AI in Cost Estimation: A Systematic Review,” Modelling, 2025.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Mansoor et al., “Software Cost Estimation Using Feature Selection &amp; ML,” CMC, 2024.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Meharunnisa et al., “Software Effort Estimation by ML Techniques,” IIETA, 2023.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“Predicting Effort, Duration and Cost Using MLT,” JARDCS, 2019.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Oliveira et al., “Software Effort Estimation Using ML Methods,” ISCIS, 2007.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Datasets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PROMISE Repository: COCOMO-NASA, Desharnais, China.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6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UCI Residential Building Dataset (Rafiei &amp; Adeli, 2018).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15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Official Documentation</a:t>
            </a:r>
            <a:r>
              <a:rPr lang="en-IN" sz="15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 scikit-learn, XGBoost and Flask Docs.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102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/>
          <p:nvPr/>
        </p:nvSpPr>
        <p:spPr>
          <a:xfrm>
            <a:off x="0" y="0"/>
            <a:ext cx="9141120" cy="14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rm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7" descr="images.jpg"/>
          <p:cNvPicPr/>
          <p:nvPr/>
        </p:nvPicPr>
        <p:blipFill>
          <a:blip r:embed="rId1"/>
          <a:stretch/>
        </p:blipFill>
        <p:spPr>
          <a:xfrm>
            <a:off x="7877520" y="0"/>
            <a:ext cx="1263600" cy="126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105"/>
          <p:cNvSpPr/>
          <p:nvPr/>
        </p:nvSpPr>
        <p:spPr>
          <a:xfrm>
            <a:off x="0" y="2700000"/>
            <a:ext cx="91429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IN" sz="7200" b="1" u="none" strike="noStrike">
                <a:solidFill>
                  <a:srgbClr val="000000"/>
                </a:solidFill>
                <a:effectLst/>
                <a:uFillTx/>
                <a:latin typeface="Cambria"/>
                <a:ea typeface="DejaVu Sans"/>
              </a:rPr>
              <a:t>THANK YOU </a:t>
            </a:r>
            <a:endParaRPr lang="en-IN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106"/>
          <p:cNvPicPr/>
          <p:nvPr/>
        </p:nvPicPr>
        <p:blipFill>
          <a:blip r:embed="rId2"/>
          <a:stretch/>
        </p:blipFill>
        <p:spPr>
          <a:xfrm>
            <a:off x="0" y="0"/>
            <a:ext cx="1078200" cy="14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</TotalTime>
  <Application>LibreOffice/26.2.1.2$MacOSX_AARCH64 LibreOffice_project/8399f6259d8c87f40e7255cdb3c9b958f5e08948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Vaibhav Ranjan</dc:creator>
  <dc:description/>
  <dc:language>en-IN</dc:language>
  <cp:lastModifiedBy/>
  <dcterms:modified xsi:type="dcterms:W3CDTF">2026-10-11T22:26:32Z</dcterms:modified>
  <cp:revision>131</cp:revision>
  <dc:subject/>
  <dc:title>[COLLEGE LOGO ]             TITLE OF THE PROJECT                   Mini Project KCS 554/ 5th Sem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11</vt:r8>
  </property>
</Properties>
</file>